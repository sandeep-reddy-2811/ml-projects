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7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64008"/>
          </a:xfrm>
          <a:prstGeom prst="rect">
            <a:avLst/>
          </a:prstGeom>
          <a:solidFill>
            <a:srgbClr val="63EBAF">
              <a:alpha val="70000"/>
            </a:srgbClr>
          </a:solidFill>
          <a:ln w="12700">
            <a:solidFill>
              <a:srgbClr val="63EBAF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0" y="0"/>
            <a:ext cx="4572000" cy="64008"/>
          </a:xfrm>
          <a:prstGeom prst="rect">
            <a:avLst/>
          </a:prstGeom>
          <a:solidFill>
            <a:srgbClr val="A78BFA">
              <a:alpha val="70000"/>
            </a:srgbClr>
          </a:solidFill>
          <a:ln w="12700">
            <a:solidFill>
              <a:srgbClr val="A78BFA">
                <a:alpha val="7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5720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spc="600" kern="0" dirty="0">
                <a:solidFill>
                  <a:srgbClr val="EC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SKILLMAP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502920" y="1078992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3E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pPr indent="0" marL="0">
              <a:buNone/>
            </a:pPr>
            <a:r>
              <a:rPr lang="en-US" sz="1800" dirty="0">
                <a:solidFill>
                  <a:srgbClr val="EC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-Adaptive Onboarding Engine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02920" y="1572768"/>
            <a:ext cx="2011680" cy="36576"/>
          </a:xfrm>
          <a:prstGeom prst="rect">
            <a:avLst/>
          </a:prstGeom>
          <a:solidFill>
            <a:srgbClr val="63EBAF"/>
          </a:solidFill>
          <a:ln w="12700">
            <a:solidFill>
              <a:srgbClr val="63EBA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737360"/>
            <a:ext cx="4754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onboarding is broken. Static curricula waste time for experienced hires and overwhelm beginners.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SkillMap parses any resume and job description, identifies the exact skill gap, and generates a personalized, ordered learning roadmap — in seconds.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3502152"/>
            <a:ext cx="292608" cy="292608"/>
          </a:xfrm>
          <a:prstGeom prst="ellipse">
            <a:avLst/>
          </a:prstGeom>
          <a:solidFill>
            <a:srgbClr val="63EBAF">
              <a:alpha val="20000"/>
            </a:srgbClr>
          </a:solidFill>
          <a:ln w="12700">
            <a:solidFill>
              <a:srgbClr val="63EBAF">
                <a:alpha val="5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34930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⚡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86968" y="352044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C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parsing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968" y="372160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+ JD → structured skills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4032504"/>
            <a:ext cx="292608" cy="292608"/>
          </a:xfrm>
          <a:prstGeom prst="ellipse">
            <a:avLst/>
          </a:prstGeom>
          <a:solidFill>
            <a:srgbClr val="63EBAF">
              <a:alpha val="20000"/>
            </a:srgbClr>
          </a:solidFill>
          <a:ln w="12700">
            <a:solidFill>
              <a:srgbClr val="63EBAF">
                <a:alpha val="5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40233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🎯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86968" y="405079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C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gap mapping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86968" y="425196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Prioritised, ordered gaps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" y="4562856"/>
            <a:ext cx="292608" cy="292608"/>
          </a:xfrm>
          <a:prstGeom prst="ellipse">
            <a:avLst/>
          </a:prstGeom>
          <a:solidFill>
            <a:srgbClr val="63EBAF">
              <a:alpha val="20000"/>
            </a:srgbClr>
          </a:solidFill>
          <a:ln w="12700">
            <a:solidFill>
              <a:srgbClr val="63EBAF">
                <a:alpha val="5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45537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🗺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86968" y="458114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C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 roadmap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86968" y="478231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Role-specific learning path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760720" y="365760"/>
            <a:ext cx="3017520" cy="4389120"/>
          </a:xfrm>
          <a:prstGeom prst="rect">
            <a:avLst/>
          </a:prstGeom>
          <a:solidFill>
            <a:srgbClr val="0D0F14"/>
          </a:solidFill>
          <a:ln w="12700">
            <a:solidFill>
              <a:srgbClr val="63EBAF">
                <a:alpha val="3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52160" y="5029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63E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ROADMAP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099048" y="1307592"/>
            <a:ext cx="18288" cy="310896"/>
          </a:xfrm>
          <a:prstGeom prst="rect">
            <a:avLst/>
          </a:prstGeom>
          <a:solidFill>
            <a:srgbClr val="545B6B">
              <a:alpha val="50000"/>
            </a:srgbClr>
          </a:solidFill>
          <a:ln w="12700">
            <a:solidFill>
              <a:srgbClr val="545B6B">
                <a:alpha val="5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61888" y="960120"/>
            <a:ext cx="310896" cy="310896"/>
          </a:xfrm>
          <a:prstGeom prst="ellipse">
            <a:avLst/>
          </a:prstGeom>
          <a:solidFill>
            <a:srgbClr val="FF6B6B">
              <a:alpha val="25000"/>
            </a:srgbClr>
          </a:solidFill>
          <a:ln w="12700">
            <a:solidFill>
              <a:srgbClr val="FF6B6B">
                <a:alpha val="6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61888" y="9601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345936" y="969264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C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Foundations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345936" y="1143000"/>
            <a:ext cx="502920" cy="128016"/>
          </a:xfrm>
          <a:prstGeom prst="rect">
            <a:avLst/>
          </a:prstGeom>
          <a:solidFill>
            <a:srgbClr val="FF6B6B">
              <a:alpha val="18000"/>
            </a:srgbClr>
          </a:solidFill>
          <a:ln w="12700">
            <a:solidFill>
              <a:srgbClr val="FF6B6B">
                <a:alpha val="4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45936" y="1143000"/>
            <a:ext cx="502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spc="100" kern="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600" dirty="0"/>
          </a:p>
        </p:txBody>
      </p:sp>
      <p:sp>
        <p:nvSpPr>
          <p:cNvPr id="28" name="Shape 26"/>
          <p:cNvSpPr/>
          <p:nvPr/>
        </p:nvSpPr>
        <p:spPr>
          <a:xfrm>
            <a:off x="6099048" y="1965960"/>
            <a:ext cx="18288" cy="310896"/>
          </a:xfrm>
          <a:prstGeom prst="rect">
            <a:avLst/>
          </a:prstGeom>
          <a:solidFill>
            <a:srgbClr val="545B6B">
              <a:alpha val="50000"/>
            </a:srgbClr>
          </a:solidFill>
          <a:ln w="12700">
            <a:solidFill>
              <a:srgbClr val="545B6B">
                <a:alpha val="5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61888" y="1618488"/>
            <a:ext cx="310896" cy="310896"/>
          </a:xfrm>
          <a:prstGeom prst="ellipse">
            <a:avLst/>
          </a:prstGeom>
          <a:solidFill>
            <a:srgbClr val="FF6B6B">
              <a:alpha val="25000"/>
            </a:srgbClr>
          </a:solidFill>
          <a:ln w="12700">
            <a:solidFill>
              <a:srgbClr val="FF6B6B">
                <a:alpha val="6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61888" y="16184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345936" y="1627632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C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 &amp; Deployment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345936" y="1801368"/>
            <a:ext cx="502920" cy="128016"/>
          </a:xfrm>
          <a:prstGeom prst="rect">
            <a:avLst/>
          </a:prstGeom>
          <a:solidFill>
            <a:srgbClr val="FF6B6B">
              <a:alpha val="18000"/>
            </a:srgbClr>
          </a:solidFill>
          <a:ln w="12700">
            <a:solidFill>
              <a:srgbClr val="FF6B6B">
                <a:alpha val="4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45936" y="1801368"/>
            <a:ext cx="502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spc="100" kern="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600" dirty="0"/>
          </a:p>
        </p:txBody>
      </p:sp>
      <p:sp>
        <p:nvSpPr>
          <p:cNvPr id="34" name="Shape 32"/>
          <p:cNvSpPr/>
          <p:nvPr/>
        </p:nvSpPr>
        <p:spPr>
          <a:xfrm>
            <a:off x="6099048" y="2624328"/>
            <a:ext cx="18288" cy="310896"/>
          </a:xfrm>
          <a:prstGeom prst="rect">
            <a:avLst/>
          </a:prstGeom>
          <a:solidFill>
            <a:srgbClr val="545B6B">
              <a:alpha val="50000"/>
            </a:srgbClr>
          </a:solidFill>
          <a:ln w="12700">
            <a:solidFill>
              <a:srgbClr val="545B6B">
                <a:alpha val="5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961888" y="2276856"/>
            <a:ext cx="310896" cy="310896"/>
          </a:xfrm>
          <a:prstGeom prst="ellipse">
            <a:avLst/>
          </a:prstGeom>
          <a:solidFill>
            <a:srgbClr val="A78BFA">
              <a:alpha val="25000"/>
            </a:srgbClr>
          </a:solidFill>
          <a:ln w="12700">
            <a:solidFill>
              <a:srgbClr val="A78BFA">
                <a:alpha val="6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61888" y="22768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345936" y="228600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C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Orchestration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345936" y="2459736"/>
            <a:ext cx="502920" cy="128016"/>
          </a:xfrm>
          <a:prstGeom prst="rect">
            <a:avLst/>
          </a:prstGeom>
          <a:solidFill>
            <a:srgbClr val="A78BFA">
              <a:alpha val="18000"/>
            </a:srgbClr>
          </a:solidFill>
          <a:ln w="12700">
            <a:solidFill>
              <a:srgbClr val="A78BFA">
                <a:alpha val="4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45936" y="2459736"/>
            <a:ext cx="502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spc="1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600" dirty="0"/>
          </a:p>
        </p:txBody>
      </p:sp>
      <p:sp>
        <p:nvSpPr>
          <p:cNvPr id="40" name="Shape 38"/>
          <p:cNvSpPr/>
          <p:nvPr/>
        </p:nvSpPr>
        <p:spPr>
          <a:xfrm>
            <a:off x="6099048" y="3282696"/>
            <a:ext cx="18288" cy="310896"/>
          </a:xfrm>
          <a:prstGeom prst="rect">
            <a:avLst/>
          </a:prstGeom>
          <a:solidFill>
            <a:srgbClr val="545B6B">
              <a:alpha val="50000"/>
            </a:srgbClr>
          </a:solidFill>
          <a:ln w="12700">
            <a:solidFill>
              <a:srgbClr val="545B6B">
                <a:alpha val="5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961888" y="2935224"/>
            <a:ext cx="310896" cy="310896"/>
          </a:xfrm>
          <a:prstGeom prst="ellipse">
            <a:avLst/>
          </a:prstGeom>
          <a:solidFill>
            <a:srgbClr val="A78BFA">
              <a:alpha val="25000"/>
            </a:srgbClr>
          </a:solidFill>
          <a:ln w="12700">
            <a:solidFill>
              <a:srgbClr val="A78BFA">
                <a:alpha val="60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61888" y="29352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345936" y="294436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C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345936" y="3118104"/>
            <a:ext cx="502920" cy="128016"/>
          </a:xfrm>
          <a:prstGeom prst="rect">
            <a:avLst/>
          </a:prstGeom>
          <a:solidFill>
            <a:srgbClr val="A78BFA">
              <a:alpha val="18000"/>
            </a:srgbClr>
          </a:solidFill>
          <a:ln w="12700">
            <a:solidFill>
              <a:srgbClr val="A78BFA">
                <a:alpha val="40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45936" y="3118104"/>
            <a:ext cx="502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spc="1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600" dirty="0"/>
          </a:p>
        </p:txBody>
      </p:sp>
      <p:sp>
        <p:nvSpPr>
          <p:cNvPr id="46" name="Shape 44"/>
          <p:cNvSpPr/>
          <p:nvPr/>
        </p:nvSpPr>
        <p:spPr>
          <a:xfrm>
            <a:off x="5961888" y="3593592"/>
            <a:ext cx="310896" cy="310896"/>
          </a:xfrm>
          <a:prstGeom prst="ellipse">
            <a:avLst/>
          </a:prstGeom>
          <a:solidFill>
            <a:srgbClr val="63EBAF">
              <a:alpha val="25000"/>
            </a:srgbClr>
          </a:solidFill>
          <a:ln w="12700">
            <a:solidFill>
              <a:srgbClr val="63EBAF">
                <a:alpha val="60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961888" y="35935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3E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345936" y="3602736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C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LLMOps &amp; Vector DBs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345936" y="3776472"/>
            <a:ext cx="502920" cy="128016"/>
          </a:xfrm>
          <a:prstGeom prst="rect">
            <a:avLst/>
          </a:prstGeom>
          <a:solidFill>
            <a:srgbClr val="63EBAF">
              <a:alpha val="18000"/>
            </a:srgbClr>
          </a:solidFill>
          <a:ln w="12700">
            <a:solidFill>
              <a:srgbClr val="63EBAF">
                <a:alpha val="4000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345936" y="3776472"/>
            <a:ext cx="502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spc="100" kern="0" dirty="0">
                <a:solidFill>
                  <a:srgbClr val="63E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600" dirty="0"/>
          </a:p>
        </p:txBody>
      </p:sp>
      <p:sp>
        <p:nvSpPr>
          <p:cNvPr id="51" name="Text 49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4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07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64008"/>
          </a:xfrm>
          <a:prstGeom prst="rect">
            <a:avLst/>
          </a:prstGeom>
          <a:solidFill>
            <a:srgbClr val="63EBAF">
              <a:alpha val="70000"/>
            </a:srgbClr>
          </a:solidFill>
          <a:ln w="12700">
            <a:solidFill>
              <a:srgbClr val="63EBAF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0" y="0"/>
            <a:ext cx="4572000" cy="64008"/>
          </a:xfrm>
          <a:prstGeom prst="rect">
            <a:avLst/>
          </a:prstGeom>
          <a:solidFill>
            <a:srgbClr val="A78BFA">
              <a:alpha val="70000"/>
            </a:srgbClr>
          </a:solidFill>
          <a:ln w="12700">
            <a:solidFill>
              <a:srgbClr val="A78BFA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64592"/>
            <a:ext cx="1463040" cy="256032"/>
          </a:xfrm>
          <a:prstGeom prst="rect">
            <a:avLst>
              <a:gd name="adj" fmla="val 14286"/>
            </a:avLst>
          </a:prstGeom>
          <a:solidFill>
            <a:srgbClr val="63EBAF">
              <a:alpha val="25000"/>
            </a:srgbClr>
          </a:solidFill>
          <a:ln w="12700">
            <a:solidFill>
              <a:srgbClr val="63EBAF">
                <a:alpha val="6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5544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63E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7548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C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 &amp; Data Flow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274320" y="1097280"/>
            <a:ext cx="1554480" cy="1280160"/>
          </a:xfrm>
          <a:prstGeom prst="rect">
            <a:avLst/>
          </a:prstGeom>
          <a:solidFill>
            <a:srgbClr val="0D0F14"/>
          </a:solidFill>
          <a:ln w="12700">
            <a:solidFill>
              <a:srgbClr val="63EBAF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097280"/>
            <a:ext cx="1554480" cy="64008"/>
          </a:xfrm>
          <a:prstGeom prst="rect">
            <a:avLst/>
          </a:prstGeom>
          <a:solidFill>
            <a:srgbClr val="63EBAF"/>
          </a:solidFill>
          <a:ln w="12700">
            <a:solidFill>
              <a:srgbClr val="63EBA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18872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3E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63E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4320" y="1719072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UI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&amp; drop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828800" y="1709928"/>
            <a:ext cx="320040" cy="22860"/>
          </a:xfrm>
          <a:prstGeom prst="rect">
            <a:avLst/>
          </a:prstGeom>
          <a:solidFill>
            <a:srgbClr val="545B6B">
              <a:alpha val="60000"/>
            </a:srgbClr>
          </a:solidFill>
          <a:ln w="12700">
            <a:solidFill>
              <a:srgbClr val="545B6B">
                <a:alpha val="6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93976" y="1645920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4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057400" y="1097280"/>
            <a:ext cx="1554480" cy="1280160"/>
          </a:xfrm>
          <a:prstGeom prst="rect">
            <a:avLst/>
          </a:prstGeom>
          <a:solidFill>
            <a:srgbClr val="0D0F14"/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57400" y="1097280"/>
            <a:ext cx="1554480" cy="6400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57400" y="118872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057400" y="1719072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/api/analyze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handled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611880" y="1709928"/>
            <a:ext cx="320040" cy="22860"/>
          </a:xfrm>
          <a:prstGeom prst="rect">
            <a:avLst/>
          </a:prstGeom>
          <a:solidFill>
            <a:srgbClr val="545B6B">
              <a:alpha val="60000"/>
            </a:srgbClr>
          </a:solidFill>
          <a:ln w="12700">
            <a:solidFill>
              <a:srgbClr val="545B6B">
                <a:alpha val="6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77056" y="1645920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4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840480" y="1097280"/>
            <a:ext cx="1554480" cy="1280160"/>
          </a:xfrm>
          <a:prstGeom prst="rect">
            <a:avLst/>
          </a:prstGeom>
          <a:solidFill>
            <a:srgbClr val="0D0F14"/>
          </a:solidFill>
          <a:ln w="12700">
            <a:solidFill>
              <a:srgbClr val="F7C94B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40480" y="1097280"/>
            <a:ext cx="1554480" cy="64008"/>
          </a:xfrm>
          <a:prstGeom prst="rect">
            <a:avLst/>
          </a:prstGeom>
          <a:solidFill>
            <a:srgbClr val="F7C94B"/>
          </a:solidFill>
          <a:ln w="12700">
            <a:solidFill>
              <a:srgbClr val="F7C94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0" y="118872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C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7C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Sonnet 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840480" y="1719072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extraction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response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394960" y="1709928"/>
            <a:ext cx="320040" cy="22860"/>
          </a:xfrm>
          <a:prstGeom prst="rect">
            <a:avLst/>
          </a:prstGeom>
          <a:solidFill>
            <a:srgbClr val="545B6B">
              <a:alpha val="60000"/>
            </a:srgbClr>
          </a:solidFill>
          <a:ln w="12700">
            <a:solidFill>
              <a:srgbClr val="545B6B">
                <a:alpha val="6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0136" y="1645920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4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623560" y="1097280"/>
            <a:ext cx="1554480" cy="1280160"/>
          </a:xfrm>
          <a:prstGeom prst="rect">
            <a:avLst/>
          </a:prstGeom>
          <a:solidFill>
            <a:srgbClr val="0D0F14"/>
          </a:solidFill>
          <a:ln w="12700">
            <a:solidFill>
              <a:srgbClr val="FF6B6B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623560" y="1097280"/>
            <a:ext cx="1554480" cy="64008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23560" y="118872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623560" y="1719072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scoring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order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7178040" y="1709928"/>
            <a:ext cx="320040" cy="22860"/>
          </a:xfrm>
          <a:prstGeom prst="rect">
            <a:avLst/>
          </a:prstGeom>
          <a:solidFill>
            <a:srgbClr val="545B6B">
              <a:alpha val="60000"/>
            </a:srgbClr>
          </a:solidFill>
          <a:ln w="12700">
            <a:solidFill>
              <a:srgbClr val="545B6B">
                <a:alpha val="6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43216" y="1645920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4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7406640" y="1097280"/>
            <a:ext cx="1554480" cy="1280160"/>
          </a:xfrm>
          <a:prstGeom prst="rect">
            <a:avLst/>
          </a:prstGeom>
          <a:solidFill>
            <a:srgbClr val="0D0F14"/>
          </a:solidFill>
          <a:ln w="12700">
            <a:solidFill>
              <a:srgbClr val="63EBAF">
                <a:alpha val="4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406640" y="1097280"/>
            <a:ext cx="1554480" cy="64008"/>
          </a:xfrm>
          <a:prstGeom prst="rect">
            <a:avLst/>
          </a:prstGeom>
          <a:solidFill>
            <a:srgbClr val="63EBAF"/>
          </a:solidFill>
          <a:ln w="12700">
            <a:solidFill>
              <a:srgbClr val="63EBA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06640" y="118872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3E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63E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406640" y="1719072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output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tracking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20040" y="26517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E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Layer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20040" y="2990088"/>
            <a:ext cx="91440" cy="91440"/>
          </a:xfrm>
          <a:prstGeom prst="ellipse">
            <a:avLst/>
          </a:prstGeom>
          <a:solidFill>
            <a:srgbClr val="63EBAF"/>
          </a:solidFill>
          <a:ln w="12700">
            <a:solidFill>
              <a:srgbClr val="63EBA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4632" y="294436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(.pdf / .txt / paste)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20040" y="3374136"/>
            <a:ext cx="91440" cy="91440"/>
          </a:xfrm>
          <a:prstGeom prst="ellipse">
            <a:avLst/>
          </a:prstGeom>
          <a:solidFill>
            <a:srgbClr val="63EBAF"/>
          </a:solidFill>
          <a:ln w="12700">
            <a:solidFill>
              <a:srgbClr val="63EBA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4632" y="332841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Description (upload or paste)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20040" y="3758184"/>
            <a:ext cx="91440" cy="91440"/>
          </a:xfrm>
          <a:prstGeom prst="ellipse">
            <a:avLst/>
          </a:prstGeom>
          <a:solidFill>
            <a:srgbClr val="63EBAF"/>
          </a:solidFill>
          <a:ln w="12700">
            <a:solidFill>
              <a:srgbClr val="63EBA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4632" y="3712464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read via FileReader API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264408" y="26517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Layer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3264408" y="2990088"/>
            <a:ext cx="91440" cy="9144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429000" y="294436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validates &amp; sanitises input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264408" y="3374136"/>
            <a:ext cx="91440" cy="9144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429000" y="332841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SDK sends structured prompt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3264408" y="3758184"/>
            <a:ext cx="91440" cy="9144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429000" y="3712464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response parsed server-side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208776" y="26517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C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Layer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208776" y="2990088"/>
            <a:ext cx="91440" cy="91440"/>
          </a:xfrm>
          <a:prstGeom prst="ellipse">
            <a:avLst/>
          </a:prstGeom>
          <a:solidFill>
            <a:srgbClr val="F7C94B"/>
          </a:solidFill>
          <a:ln w="12700">
            <a:solidFill>
              <a:srgbClr val="F7C94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373368" y="294436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% with count-up animation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208776" y="3374136"/>
            <a:ext cx="91440" cy="91440"/>
          </a:xfrm>
          <a:prstGeom prst="ellipse">
            <a:avLst/>
          </a:prstGeom>
          <a:solidFill>
            <a:srgbClr val="F7C94B"/>
          </a:solidFill>
          <a:ln w="12700">
            <a:solidFill>
              <a:srgbClr val="F7C94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373368" y="332841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tags (have / gap / partial)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208776" y="3758184"/>
            <a:ext cx="91440" cy="91440"/>
          </a:xfrm>
          <a:prstGeom prst="ellipse">
            <a:avLst/>
          </a:prstGeom>
          <a:solidFill>
            <a:srgbClr val="F7C94B"/>
          </a:solidFill>
          <a:ln w="12700">
            <a:solidFill>
              <a:srgbClr val="F7C94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373368" y="3712464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 roadmap with progress toggles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4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07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64008"/>
          </a:xfrm>
          <a:prstGeom prst="rect">
            <a:avLst/>
          </a:prstGeom>
          <a:solidFill>
            <a:srgbClr val="63EBAF">
              <a:alpha val="70000"/>
            </a:srgbClr>
          </a:solidFill>
          <a:ln w="12700">
            <a:solidFill>
              <a:srgbClr val="63EBAF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0" y="0"/>
            <a:ext cx="4572000" cy="64008"/>
          </a:xfrm>
          <a:prstGeom prst="rect">
            <a:avLst/>
          </a:prstGeom>
          <a:solidFill>
            <a:srgbClr val="A78BFA">
              <a:alpha val="70000"/>
            </a:srgbClr>
          </a:solidFill>
          <a:ln w="12700">
            <a:solidFill>
              <a:srgbClr val="A78BFA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64592"/>
            <a:ext cx="1463040" cy="256032"/>
          </a:xfrm>
          <a:prstGeom prst="rect">
            <a:avLst>
              <a:gd name="adj" fmla="val 14286"/>
            </a:avLst>
          </a:prstGeom>
          <a:solidFill>
            <a:srgbClr val="63EBAF">
              <a:alpha val="25000"/>
            </a:srgbClr>
          </a:solidFill>
          <a:ln w="12700">
            <a:solidFill>
              <a:srgbClr val="63EBAF">
                <a:alpha val="6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5544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63E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7548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C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&amp; Models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20040" y="1078992"/>
            <a:ext cx="1920240" cy="347472"/>
          </a:xfrm>
          <a:prstGeom prst="rect">
            <a:avLst/>
          </a:prstGeom>
          <a:solidFill>
            <a:srgbClr val="63EBAF">
              <a:alpha val="20000"/>
            </a:srgbClr>
          </a:solidFill>
          <a:ln w="12700">
            <a:solidFill>
              <a:srgbClr val="63EBAF">
                <a:alpha val="5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07899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3E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1554480"/>
            <a:ext cx="1920240" cy="658368"/>
          </a:xfrm>
          <a:prstGeom prst="rect">
            <a:avLst/>
          </a:prstGeom>
          <a:solidFill>
            <a:srgbClr val="0D0F14"/>
          </a:solidFill>
          <a:ln w="12700">
            <a:solidFill>
              <a:srgbClr val="13161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1554480"/>
            <a:ext cx="54864" cy="658368"/>
          </a:xfrm>
          <a:prstGeom prst="rect">
            <a:avLst/>
          </a:prstGeom>
          <a:solidFill>
            <a:srgbClr val="63EBAF">
              <a:alpha val="60000"/>
            </a:srgbClr>
          </a:solidFill>
          <a:ln w="12700">
            <a:solidFill>
              <a:srgbClr val="63EBAF">
                <a:alpha val="6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" y="161848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C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48056" y="188366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Component-based UI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" y="2304288"/>
            <a:ext cx="1920240" cy="658368"/>
          </a:xfrm>
          <a:prstGeom prst="rect">
            <a:avLst/>
          </a:prstGeom>
          <a:solidFill>
            <a:srgbClr val="0D0F14"/>
          </a:solidFill>
          <a:ln w="12700">
            <a:solidFill>
              <a:srgbClr val="13161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2304288"/>
            <a:ext cx="54864" cy="658368"/>
          </a:xfrm>
          <a:prstGeom prst="rect">
            <a:avLst/>
          </a:prstGeom>
          <a:solidFill>
            <a:srgbClr val="63EBAF">
              <a:alpha val="60000"/>
            </a:srgbClr>
          </a:solidFill>
          <a:ln w="12700">
            <a:solidFill>
              <a:srgbClr val="63EBAF">
                <a:alpha val="6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8056" y="236829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C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Modules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48056" y="263347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styling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0040" y="3054096"/>
            <a:ext cx="1920240" cy="658368"/>
          </a:xfrm>
          <a:prstGeom prst="rect">
            <a:avLst/>
          </a:prstGeom>
          <a:solidFill>
            <a:srgbClr val="0D0F14"/>
          </a:solidFill>
          <a:ln w="12700">
            <a:solidFill>
              <a:srgbClr val="13161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3054096"/>
            <a:ext cx="54864" cy="658368"/>
          </a:xfrm>
          <a:prstGeom prst="rect">
            <a:avLst/>
          </a:prstGeom>
          <a:solidFill>
            <a:srgbClr val="63EBAF">
              <a:alpha val="60000"/>
            </a:srgbClr>
          </a:solidFill>
          <a:ln w="12700">
            <a:solidFill>
              <a:srgbClr val="63EBAF">
                <a:alpha val="6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8056" y="311810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C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Bebas Neue / Manrope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48056" y="338328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Typography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0040" y="3803904"/>
            <a:ext cx="1920240" cy="658368"/>
          </a:xfrm>
          <a:prstGeom prst="rect">
            <a:avLst/>
          </a:prstGeom>
          <a:solidFill>
            <a:srgbClr val="0D0F14"/>
          </a:solidFill>
          <a:ln w="12700">
            <a:solidFill>
              <a:srgbClr val="13161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" y="3803904"/>
            <a:ext cx="54864" cy="658368"/>
          </a:xfrm>
          <a:prstGeom prst="rect">
            <a:avLst/>
          </a:prstGeom>
          <a:solidFill>
            <a:srgbClr val="63EBAF">
              <a:alpha val="60000"/>
            </a:srgbClr>
          </a:solidFill>
          <a:ln w="12700">
            <a:solidFill>
              <a:srgbClr val="63EBAF">
                <a:alpha val="6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8056" y="386791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C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Fira Code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48056" y="413308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Monospace labels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468880" y="1078992"/>
            <a:ext cx="1920240" cy="347472"/>
          </a:xfrm>
          <a:prstGeom prst="rect">
            <a:avLst/>
          </a:prstGeom>
          <a:solidFill>
            <a:srgbClr val="A78BFA">
              <a:alpha val="20000"/>
            </a:srgbClr>
          </a:solidFill>
          <a:ln w="12700">
            <a:solidFill>
              <a:srgbClr val="A78BFA">
                <a:alpha val="5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468880" y="107899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468880" y="1554480"/>
            <a:ext cx="1920240" cy="658368"/>
          </a:xfrm>
          <a:prstGeom prst="rect">
            <a:avLst/>
          </a:prstGeom>
          <a:solidFill>
            <a:srgbClr val="0D0F14"/>
          </a:solidFill>
          <a:ln w="12700">
            <a:solidFill>
              <a:srgbClr val="13161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468880" y="1554480"/>
            <a:ext cx="54864" cy="658368"/>
          </a:xfrm>
          <a:prstGeom prst="rect">
            <a:avLst/>
          </a:prstGeom>
          <a:solidFill>
            <a:srgbClr val="A78BFA">
              <a:alpha val="60000"/>
            </a:srgbClr>
          </a:solidFill>
          <a:ln w="12700">
            <a:solidFill>
              <a:srgbClr val="A78BFA">
                <a:alpha val="6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596896" y="161848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C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4.2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596896" y="188366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web framework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468880" y="2304288"/>
            <a:ext cx="1920240" cy="658368"/>
          </a:xfrm>
          <a:prstGeom prst="rect">
            <a:avLst/>
          </a:prstGeom>
          <a:solidFill>
            <a:srgbClr val="0D0F14"/>
          </a:solidFill>
          <a:ln w="12700">
            <a:solidFill>
              <a:srgbClr val="13161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468880" y="2304288"/>
            <a:ext cx="54864" cy="658368"/>
          </a:xfrm>
          <a:prstGeom prst="rect">
            <a:avLst/>
          </a:prstGeom>
          <a:solidFill>
            <a:srgbClr val="A78BFA">
              <a:alpha val="60000"/>
            </a:srgbClr>
          </a:solidFill>
          <a:ln w="12700">
            <a:solidFill>
              <a:srgbClr val="A78BFA">
                <a:alpha val="6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596896" y="236829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C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REST Framework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596896" y="263347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toolkit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468880" y="3054096"/>
            <a:ext cx="1920240" cy="658368"/>
          </a:xfrm>
          <a:prstGeom prst="rect">
            <a:avLst/>
          </a:prstGeom>
          <a:solidFill>
            <a:srgbClr val="0D0F14"/>
          </a:solidFill>
          <a:ln w="12700">
            <a:solidFill>
              <a:srgbClr val="13161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468880" y="3054096"/>
            <a:ext cx="54864" cy="658368"/>
          </a:xfrm>
          <a:prstGeom prst="rect">
            <a:avLst/>
          </a:prstGeom>
          <a:solidFill>
            <a:srgbClr val="A78BFA">
              <a:alpha val="60000"/>
            </a:srgbClr>
          </a:solidFill>
          <a:ln w="12700">
            <a:solidFill>
              <a:srgbClr val="A78BFA">
                <a:alpha val="6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596896" y="311810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C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django-cors-headers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596896" y="338328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Cross-origin requests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468880" y="3803904"/>
            <a:ext cx="1920240" cy="658368"/>
          </a:xfrm>
          <a:prstGeom prst="rect">
            <a:avLst/>
          </a:prstGeom>
          <a:solidFill>
            <a:srgbClr val="0D0F14"/>
          </a:solidFill>
          <a:ln w="12700">
            <a:solidFill>
              <a:srgbClr val="13161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468880" y="3803904"/>
            <a:ext cx="54864" cy="658368"/>
          </a:xfrm>
          <a:prstGeom prst="rect">
            <a:avLst/>
          </a:prstGeom>
          <a:solidFill>
            <a:srgbClr val="A78BFA">
              <a:alpha val="60000"/>
            </a:srgbClr>
          </a:solidFill>
          <a:ln w="12700">
            <a:solidFill>
              <a:srgbClr val="A78BFA">
                <a:alpha val="6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596896" y="386791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C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python-dotenv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2596896" y="413308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config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617720" y="1078992"/>
            <a:ext cx="1920240" cy="347472"/>
          </a:xfrm>
          <a:prstGeom prst="rect">
            <a:avLst/>
          </a:prstGeom>
          <a:solidFill>
            <a:srgbClr val="F7C94B">
              <a:alpha val="20000"/>
            </a:srgbClr>
          </a:solidFill>
          <a:ln w="12700">
            <a:solidFill>
              <a:srgbClr val="F7C94B">
                <a:alpha val="50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617720" y="107899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7C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617720" y="1554480"/>
            <a:ext cx="1920240" cy="658368"/>
          </a:xfrm>
          <a:prstGeom prst="rect">
            <a:avLst/>
          </a:prstGeom>
          <a:solidFill>
            <a:srgbClr val="0D0F14"/>
          </a:solidFill>
          <a:ln w="12700">
            <a:solidFill>
              <a:srgbClr val="13161D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617720" y="1554480"/>
            <a:ext cx="54864" cy="658368"/>
          </a:xfrm>
          <a:prstGeom prst="rect">
            <a:avLst/>
          </a:prstGeom>
          <a:solidFill>
            <a:srgbClr val="F7C94B">
              <a:alpha val="60000"/>
            </a:srgbClr>
          </a:solidFill>
          <a:ln w="12700">
            <a:solidFill>
              <a:srgbClr val="F7C94B">
                <a:alpha val="60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45736" y="161848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C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 4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745736" y="188366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LLM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617720" y="2304288"/>
            <a:ext cx="1920240" cy="658368"/>
          </a:xfrm>
          <a:prstGeom prst="rect">
            <a:avLst/>
          </a:prstGeom>
          <a:solidFill>
            <a:srgbClr val="0D0F14"/>
          </a:solidFill>
          <a:ln w="12700">
            <a:solidFill>
              <a:srgbClr val="13161D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617720" y="2304288"/>
            <a:ext cx="54864" cy="658368"/>
          </a:xfrm>
          <a:prstGeom prst="rect">
            <a:avLst/>
          </a:prstGeom>
          <a:solidFill>
            <a:srgbClr val="F7C94B">
              <a:alpha val="60000"/>
            </a:srgbClr>
          </a:solidFill>
          <a:ln w="12700">
            <a:solidFill>
              <a:srgbClr val="F7C94B">
                <a:alpha val="60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745736" y="236829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C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prompting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4745736" y="263347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JSON-only output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617720" y="3054096"/>
            <a:ext cx="1920240" cy="658368"/>
          </a:xfrm>
          <a:prstGeom prst="rect">
            <a:avLst/>
          </a:prstGeom>
          <a:solidFill>
            <a:srgbClr val="0D0F14"/>
          </a:solidFill>
          <a:ln w="12700">
            <a:solidFill>
              <a:srgbClr val="13161D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617720" y="3054096"/>
            <a:ext cx="54864" cy="658368"/>
          </a:xfrm>
          <a:prstGeom prst="rect">
            <a:avLst/>
          </a:prstGeom>
          <a:solidFill>
            <a:srgbClr val="F7C94B">
              <a:alpha val="60000"/>
            </a:srgbClr>
          </a:solidFill>
          <a:ln w="12700">
            <a:solidFill>
              <a:srgbClr val="F7C94B">
                <a:alpha val="6000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745736" y="311810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C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+ user roles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4745736" y="338328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Two-shot prompting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4617720" y="3803904"/>
            <a:ext cx="1920240" cy="658368"/>
          </a:xfrm>
          <a:prstGeom prst="rect">
            <a:avLst/>
          </a:prstGeom>
          <a:solidFill>
            <a:srgbClr val="0D0F14"/>
          </a:solidFill>
          <a:ln w="12700">
            <a:solidFill>
              <a:srgbClr val="13161D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617720" y="3803904"/>
            <a:ext cx="54864" cy="658368"/>
          </a:xfrm>
          <a:prstGeom prst="rect">
            <a:avLst/>
          </a:prstGeom>
          <a:solidFill>
            <a:srgbClr val="F7C94B">
              <a:alpha val="60000"/>
            </a:srgbClr>
          </a:solidFill>
          <a:ln w="12700">
            <a:solidFill>
              <a:srgbClr val="F7C94B">
                <a:alpha val="6000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745736" y="386791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C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 max tokens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4745736" y="413308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budget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6766560" y="1078992"/>
            <a:ext cx="1920240" cy="347472"/>
          </a:xfrm>
          <a:prstGeom prst="rect">
            <a:avLst/>
          </a:prstGeom>
          <a:solidFill>
            <a:srgbClr val="FF6B6B">
              <a:alpha val="20000"/>
            </a:srgbClr>
          </a:solidFill>
          <a:ln w="12700">
            <a:solidFill>
              <a:srgbClr val="FF6B6B">
                <a:alpha val="50000"/>
              </a:srgb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766560" y="107899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6766560" y="1554480"/>
            <a:ext cx="1920240" cy="658368"/>
          </a:xfrm>
          <a:prstGeom prst="rect">
            <a:avLst/>
          </a:prstGeom>
          <a:solidFill>
            <a:srgbClr val="0D0F14"/>
          </a:solidFill>
          <a:ln w="12700">
            <a:solidFill>
              <a:srgbClr val="13161D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766560" y="1554480"/>
            <a:ext cx="54864" cy="658368"/>
          </a:xfrm>
          <a:prstGeom prst="rect">
            <a:avLst/>
          </a:prstGeom>
          <a:solidFill>
            <a:srgbClr val="FF6B6B">
              <a:alpha val="60000"/>
            </a:srgbClr>
          </a:solidFill>
          <a:ln w="12700">
            <a:solidFill>
              <a:srgbClr val="FF6B6B">
                <a:alpha val="60000"/>
              </a:srgbClr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894576" y="161848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C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6894576" y="188366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Containerisation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6766560" y="2304288"/>
            <a:ext cx="1920240" cy="658368"/>
          </a:xfrm>
          <a:prstGeom prst="rect">
            <a:avLst/>
          </a:prstGeom>
          <a:solidFill>
            <a:srgbClr val="0D0F14"/>
          </a:solidFill>
          <a:ln w="12700">
            <a:solidFill>
              <a:srgbClr val="13161D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766560" y="2304288"/>
            <a:ext cx="54864" cy="658368"/>
          </a:xfrm>
          <a:prstGeom prst="rect">
            <a:avLst/>
          </a:prstGeom>
          <a:solidFill>
            <a:srgbClr val="FF6B6B">
              <a:alpha val="60000"/>
            </a:srgbClr>
          </a:solidFill>
          <a:ln w="12700">
            <a:solidFill>
              <a:srgbClr val="FF6B6B">
                <a:alpha val="60000"/>
              </a:srgbClr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894576" y="236829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C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docker-compose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6894576" y="263347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Multi-service orchestration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6766560" y="3054096"/>
            <a:ext cx="1920240" cy="658368"/>
          </a:xfrm>
          <a:prstGeom prst="rect">
            <a:avLst/>
          </a:prstGeom>
          <a:solidFill>
            <a:srgbClr val="0D0F14"/>
          </a:solidFill>
          <a:ln w="12700">
            <a:solidFill>
              <a:srgbClr val="13161D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6766560" y="3054096"/>
            <a:ext cx="54864" cy="658368"/>
          </a:xfrm>
          <a:prstGeom prst="rect">
            <a:avLst/>
          </a:prstGeom>
          <a:solidFill>
            <a:srgbClr val="FF6B6B">
              <a:alpha val="60000"/>
            </a:srgbClr>
          </a:solidFill>
          <a:ln w="12700">
            <a:solidFill>
              <a:srgbClr val="FF6B6B">
                <a:alpha val="60000"/>
              </a:srgbClr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894576" y="311810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C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Gunicorn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6894576" y="338328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WSGI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6766560" y="3803904"/>
            <a:ext cx="1920240" cy="658368"/>
          </a:xfrm>
          <a:prstGeom prst="rect">
            <a:avLst/>
          </a:prstGeom>
          <a:solidFill>
            <a:srgbClr val="0D0F14"/>
          </a:solidFill>
          <a:ln w="12700">
            <a:solidFill>
              <a:srgbClr val="13161D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6766560" y="3803904"/>
            <a:ext cx="54864" cy="658368"/>
          </a:xfrm>
          <a:prstGeom prst="rect">
            <a:avLst/>
          </a:prstGeom>
          <a:solidFill>
            <a:srgbClr val="FF6B6B">
              <a:alpha val="60000"/>
            </a:srgbClr>
          </a:solidFill>
          <a:ln w="12700">
            <a:solidFill>
              <a:srgbClr val="FF6B6B">
                <a:alpha val="60000"/>
              </a:srgbClr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894576" y="386791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C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100" dirty="0"/>
          </a:p>
        </p:txBody>
      </p:sp>
      <p:sp>
        <p:nvSpPr>
          <p:cNvPr id="78" name="Text 76"/>
          <p:cNvSpPr/>
          <p:nvPr/>
        </p:nvSpPr>
        <p:spPr>
          <a:xfrm>
            <a:off x="6894576" y="413308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4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07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64008"/>
          </a:xfrm>
          <a:prstGeom prst="rect">
            <a:avLst/>
          </a:prstGeom>
          <a:solidFill>
            <a:srgbClr val="63EBAF">
              <a:alpha val="70000"/>
            </a:srgbClr>
          </a:solidFill>
          <a:ln w="12700">
            <a:solidFill>
              <a:srgbClr val="63EBAF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0" y="0"/>
            <a:ext cx="4572000" cy="64008"/>
          </a:xfrm>
          <a:prstGeom prst="rect">
            <a:avLst/>
          </a:prstGeom>
          <a:solidFill>
            <a:srgbClr val="A78BFA">
              <a:alpha val="70000"/>
            </a:srgbClr>
          </a:solidFill>
          <a:ln w="12700">
            <a:solidFill>
              <a:srgbClr val="A78BFA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64592"/>
            <a:ext cx="1463040" cy="256032"/>
          </a:xfrm>
          <a:prstGeom prst="rect">
            <a:avLst>
              <a:gd name="adj" fmla="val 14286"/>
            </a:avLst>
          </a:prstGeom>
          <a:solidFill>
            <a:srgbClr val="63EBAF">
              <a:alpha val="25000"/>
            </a:srgbClr>
          </a:solidFill>
          <a:ln w="12700">
            <a:solidFill>
              <a:srgbClr val="63EBAF">
                <a:alpha val="6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5544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63E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7548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C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Extraction &amp; Adaptive Pathing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02920" y="107899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3E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EXTRACTION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444752"/>
            <a:ext cx="274320" cy="274320"/>
          </a:xfrm>
          <a:prstGeom prst="rect">
            <a:avLst/>
          </a:prstGeom>
          <a:solidFill>
            <a:srgbClr val="63EBAF">
              <a:alpha val="25000"/>
            </a:srgbClr>
          </a:solidFill>
          <a:ln w="12700">
            <a:solidFill>
              <a:srgbClr val="63EBAF">
                <a:alpha val="6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4447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3E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77824" y="1444752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C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+ JD ingestion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77824" y="1627632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text normalised, whitespace cleaned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" y="1737360"/>
            <a:ext cx="18288" cy="329184"/>
          </a:xfrm>
          <a:prstGeom prst="rect">
            <a:avLst/>
          </a:prstGeom>
          <a:solidFill>
            <a:srgbClr val="545B6B">
              <a:alpha val="50000"/>
            </a:srgbClr>
          </a:solidFill>
          <a:ln w="12700">
            <a:solidFill>
              <a:srgbClr val="545B6B">
                <a:alpha val="5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" y="2066544"/>
            <a:ext cx="274320" cy="274320"/>
          </a:xfrm>
          <a:prstGeom prst="rect">
            <a:avLst/>
          </a:prstGeom>
          <a:solidFill>
            <a:srgbClr val="63EBAF">
              <a:alpha val="25000"/>
            </a:srgbClr>
          </a:solidFill>
          <a:ln w="12700">
            <a:solidFill>
              <a:srgbClr val="63EBAF">
                <a:alpha val="6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0665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3E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77824" y="2066544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C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prompt to Claude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77824" y="2249424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role enforces JSON-only output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21792" y="2359152"/>
            <a:ext cx="18288" cy="329184"/>
          </a:xfrm>
          <a:prstGeom prst="rect">
            <a:avLst/>
          </a:prstGeom>
          <a:solidFill>
            <a:srgbClr val="545B6B">
              <a:alpha val="50000"/>
            </a:srgbClr>
          </a:solidFill>
          <a:ln w="12700">
            <a:solidFill>
              <a:srgbClr val="545B6B">
                <a:alpha val="5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2688336"/>
            <a:ext cx="274320" cy="274320"/>
          </a:xfrm>
          <a:prstGeom prst="rect">
            <a:avLst/>
          </a:prstGeom>
          <a:solidFill>
            <a:srgbClr val="63EBAF">
              <a:alpha val="25000"/>
            </a:srgbClr>
          </a:solidFill>
          <a:ln w="12700">
            <a:solidFill>
              <a:srgbClr val="63EBAF">
                <a:alpha val="6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6883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3E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77824" y="2688336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C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extracted with levels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77824" y="2871216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 / intermediate / advanced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21792" y="2980944"/>
            <a:ext cx="18288" cy="329184"/>
          </a:xfrm>
          <a:prstGeom prst="rect">
            <a:avLst/>
          </a:prstGeom>
          <a:solidFill>
            <a:srgbClr val="545B6B">
              <a:alpha val="50000"/>
            </a:srgbClr>
          </a:solidFill>
          <a:ln w="12700">
            <a:solidFill>
              <a:srgbClr val="545B6B">
                <a:alpha val="5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2920" y="3310128"/>
            <a:ext cx="274320" cy="274320"/>
          </a:xfrm>
          <a:prstGeom prst="rect">
            <a:avLst/>
          </a:prstGeom>
          <a:solidFill>
            <a:srgbClr val="63EBAF">
              <a:alpha val="25000"/>
            </a:srgbClr>
          </a:solidFill>
          <a:ln w="12700">
            <a:solidFill>
              <a:srgbClr val="63EBAF">
                <a:alpha val="6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3101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3E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77824" y="331012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C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 requirements extracted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77824" y="349300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skills + implied experience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21792" y="3602736"/>
            <a:ext cx="18288" cy="329184"/>
          </a:xfrm>
          <a:prstGeom prst="rect">
            <a:avLst/>
          </a:prstGeom>
          <a:solidFill>
            <a:srgbClr val="545B6B">
              <a:alpha val="50000"/>
            </a:srgbClr>
          </a:solidFill>
          <a:ln w="12700">
            <a:solidFill>
              <a:srgbClr val="545B6B">
                <a:alpha val="5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02920" y="3931920"/>
            <a:ext cx="274320" cy="274320"/>
          </a:xfrm>
          <a:prstGeom prst="rect">
            <a:avLst/>
          </a:prstGeom>
          <a:solidFill>
            <a:srgbClr val="63EBAF">
              <a:alpha val="25000"/>
            </a:srgbClr>
          </a:solidFill>
          <a:ln w="12700">
            <a:solidFill>
              <a:srgbClr val="63EBAF">
                <a:alpha val="6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3931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3E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77824" y="393192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C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Three-way classification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77824" y="411480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/ gap / partial match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480560" y="1051560"/>
            <a:ext cx="18288" cy="3749040"/>
          </a:xfrm>
          <a:prstGeom prst="rect">
            <a:avLst/>
          </a:prstGeom>
          <a:solidFill>
            <a:srgbClr val="545B6B">
              <a:alpha val="40000"/>
            </a:srgbClr>
          </a:solidFill>
          <a:ln w="12700">
            <a:solidFill>
              <a:srgbClr val="545B6B">
                <a:alpha val="4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63440" y="107899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PATHING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663440" y="14173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skills are scored and ordered using a three-factor algorithm: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663440" y="1874520"/>
            <a:ext cx="4069080" cy="685800"/>
          </a:xfrm>
          <a:prstGeom prst="rect">
            <a:avLst/>
          </a:prstGeom>
          <a:solidFill>
            <a:srgbClr val="0D0F14"/>
          </a:solidFill>
          <a:ln w="12700">
            <a:solidFill>
              <a:srgbClr val="FF6B6B">
                <a:alpha val="3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663440" y="1874520"/>
            <a:ext cx="64008" cy="68580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09744" y="1929384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 Prominence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772400" y="192938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4809744" y="220370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times / how early the skill appears in the JD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63440" y="2697480"/>
            <a:ext cx="4069080" cy="685800"/>
          </a:xfrm>
          <a:prstGeom prst="rect">
            <a:avLst/>
          </a:prstGeom>
          <a:solidFill>
            <a:srgbClr val="0D0F14"/>
          </a:solidFill>
          <a:ln w="12700">
            <a:solidFill>
              <a:srgbClr val="A78BFA">
                <a:alpha val="3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663440" y="2697480"/>
            <a:ext cx="64008" cy="6858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09744" y="2752344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Depth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772400" y="275234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4809744" y="302666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Foundational skills (e.g. Python) rank before advanced ones (e.g. MLOps)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663440" y="3520440"/>
            <a:ext cx="4069080" cy="685800"/>
          </a:xfrm>
          <a:prstGeom prst="rect">
            <a:avLst/>
          </a:prstGeom>
          <a:solidFill>
            <a:srgbClr val="0D0F14"/>
          </a:solidFill>
          <a:ln w="12700">
            <a:solidFill>
              <a:srgbClr val="F7C94B">
                <a:alpha val="35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663440" y="3520440"/>
            <a:ext cx="64008" cy="685800"/>
          </a:xfrm>
          <a:prstGeom prst="rect">
            <a:avLst/>
          </a:prstGeom>
          <a:solidFill>
            <a:srgbClr val="F7C94B"/>
          </a:solidFill>
          <a:ln w="12700">
            <a:solidFill>
              <a:srgbClr val="F7C94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09744" y="3575304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C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Momentum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7772400" y="357530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7C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4809744" y="384962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Shorter modules placed early to build confidence before deep dives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663440" y="4407408"/>
            <a:ext cx="4069080" cy="411480"/>
          </a:xfrm>
          <a:prstGeom prst="rect">
            <a:avLst/>
          </a:prstGeom>
          <a:solidFill>
            <a:srgbClr val="13161D"/>
          </a:solidFill>
          <a:ln w="12700">
            <a:solidFill>
              <a:srgbClr val="63EBAF">
                <a:alpha val="30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754880" y="4434840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3E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% = (matched skills + 0.5 × partial) ÷ total required × 100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4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07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64008"/>
          </a:xfrm>
          <a:prstGeom prst="rect">
            <a:avLst/>
          </a:prstGeom>
          <a:solidFill>
            <a:srgbClr val="63EBAF">
              <a:alpha val="70000"/>
            </a:srgbClr>
          </a:solidFill>
          <a:ln w="12700">
            <a:solidFill>
              <a:srgbClr val="63EBAF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0" y="0"/>
            <a:ext cx="4572000" cy="64008"/>
          </a:xfrm>
          <a:prstGeom prst="rect">
            <a:avLst/>
          </a:prstGeom>
          <a:solidFill>
            <a:srgbClr val="A78BFA">
              <a:alpha val="70000"/>
            </a:srgbClr>
          </a:solidFill>
          <a:ln w="12700">
            <a:solidFill>
              <a:srgbClr val="A78BFA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64592"/>
            <a:ext cx="1463040" cy="256032"/>
          </a:xfrm>
          <a:prstGeom prst="rect">
            <a:avLst>
              <a:gd name="adj" fmla="val 14286"/>
            </a:avLst>
          </a:prstGeom>
          <a:solidFill>
            <a:srgbClr val="63EBAF">
              <a:alpha val="25000"/>
            </a:srgbClr>
          </a:solidFill>
          <a:ln w="12700">
            <a:solidFill>
              <a:srgbClr val="63EBAF">
                <a:alpha val="6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5544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63E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 &amp; METRICS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7548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C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Data, Metrics &amp; Evaluation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02920" y="10789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7C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 USED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444752"/>
            <a:ext cx="3840480" cy="685800"/>
          </a:xfrm>
          <a:prstGeom prst="rect">
            <a:avLst/>
          </a:prstGeom>
          <a:solidFill>
            <a:srgbClr val="0D0F14"/>
          </a:solidFill>
          <a:ln w="12700">
            <a:solidFill>
              <a:srgbClr val="F7C94B">
                <a:alpha val="3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499616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C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Resume Dataset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1700784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7C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snehaanbhawal/resume-dataset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" y="1865376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1000+ labelled resumes for testing skill extraction accuracy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02920" y="2267712"/>
            <a:ext cx="3840480" cy="685800"/>
          </a:xfrm>
          <a:prstGeom prst="rect">
            <a:avLst/>
          </a:prstGeom>
          <a:solidFill>
            <a:srgbClr val="0D0F14"/>
          </a:solidFill>
          <a:ln w="12700">
            <a:solidFill>
              <a:srgbClr val="F7C94B">
                <a:alpha val="3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322576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C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O*NET Database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2523744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7C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onetcenter.org/db_releases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0080" y="2688336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occupational taxonomy — 1000+ roles, 35k+ skills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02920" y="3090672"/>
            <a:ext cx="3840480" cy="685800"/>
          </a:xfrm>
          <a:prstGeom prst="rect">
            <a:avLst/>
          </a:prstGeom>
          <a:solidFill>
            <a:srgbClr val="0D0F14"/>
          </a:solidFill>
          <a:ln w="12700">
            <a:solidFill>
              <a:srgbClr val="F7C94B">
                <a:alpha val="3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145536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C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Jobs &amp; JDs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3346704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7C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kshitizregmi/jobs-and-job-description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0080" y="3511296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job descriptions across diverse sectors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0" y="1051560"/>
            <a:ext cx="18288" cy="3749040"/>
          </a:xfrm>
          <a:prstGeom prst="rect">
            <a:avLst/>
          </a:prstGeom>
          <a:solidFill>
            <a:srgbClr val="545B6B">
              <a:alpha val="40000"/>
            </a:srgbClr>
          </a:solidFill>
          <a:ln w="12700">
            <a:solidFill>
              <a:srgbClr val="545B6B">
                <a:alpha val="4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107899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3E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CRITERIA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54880" y="1444752"/>
            <a:ext cx="3931920" cy="475488"/>
          </a:xfrm>
          <a:prstGeom prst="rect">
            <a:avLst/>
          </a:prstGeom>
          <a:solidFill>
            <a:srgbClr val="0D0F14"/>
          </a:solidFill>
          <a:ln w="12700">
            <a:solidFill>
              <a:srgbClr val="13161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54880" y="1444752"/>
            <a:ext cx="786384" cy="54864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152704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C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Sophistication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046720" y="1508760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846320" y="1719072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extraction accuracy + adaptive logic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754880" y="2103120"/>
            <a:ext cx="3931920" cy="475488"/>
          </a:xfrm>
          <a:prstGeom prst="rect">
            <a:avLst/>
          </a:prstGeom>
          <a:solidFill>
            <a:srgbClr val="0D0F14"/>
          </a:solidFill>
          <a:ln w="12700">
            <a:solidFill>
              <a:srgbClr val="13161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54880" y="2103120"/>
            <a:ext cx="786384" cy="548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2185416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C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&amp; Docs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046720" y="216712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846320" y="2377440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README, video, 5-slide deck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754880" y="2761488"/>
            <a:ext cx="3931920" cy="475488"/>
          </a:xfrm>
          <a:prstGeom prst="rect">
            <a:avLst/>
          </a:prstGeom>
          <a:solidFill>
            <a:srgbClr val="0D0F14"/>
          </a:solidFill>
          <a:ln w="12700">
            <a:solidFill>
              <a:srgbClr val="13161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0" y="2761488"/>
            <a:ext cx="589788" cy="54864"/>
          </a:xfrm>
          <a:prstGeom prst="rect">
            <a:avLst/>
          </a:prstGeom>
          <a:solidFill>
            <a:srgbClr val="63EBAF"/>
          </a:solidFill>
          <a:ln w="12700">
            <a:solidFill>
              <a:srgbClr val="63EBA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46320" y="2843784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C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Experience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046720" y="2825496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63E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846320" y="3035808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clarity + roadmap visualisation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754880" y="3419856"/>
            <a:ext cx="3931920" cy="475488"/>
          </a:xfrm>
          <a:prstGeom prst="rect">
            <a:avLst/>
          </a:prstGeom>
          <a:solidFill>
            <a:srgbClr val="0D0F14"/>
          </a:solidFill>
          <a:ln w="12700">
            <a:solidFill>
              <a:srgbClr val="13161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754880" y="3419856"/>
            <a:ext cx="589788" cy="54864"/>
          </a:xfrm>
          <a:prstGeom prst="rect">
            <a:avLst/>
          </a:prstGeom>
          <a:solidFill>
            <a:srgbClr val="F7C94B"/>
          </a:solidFill>
          <a:ln w="12700">
            <a:solidFill>
              <a:srgbClr val="F7C94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46320" y="350215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C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&amp; Reliability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046720" y="348386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7C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4846320" y="3694176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hallucinations, strict JSON schema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754880" y="4078224"/>
            <a:ext cx="3931920" cy="475488"/>
          </a:xfrm>
          <a:prstGeom prst="rect">
            <a:avLst/>
          </a:prstGeom>
          <a:solidFill>
            <a:srgbClr val="0D0F14"/>
          </a:solidFill>
          <a:ln w="12700">
            <a:solidFill>
              <a:srgbClr val="13161D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754880" y="4078224"/>
            <a:ext cx="1179576" cy="54864"/>
          </a:xfrm>
          <a:prstGeom prst="rect">
            <a:avLst/>
          </a:prstGeom>
          <a:solidFill>
            <a:srgbClr val="545B6B"/>
          </a:solidFill>
          <a:ln w="12700">
            <a:solidFill>
              <a:srgbClr val="545B6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46320" y="416052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C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criteria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8046720" y="4142232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4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4846320" y="4352544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trace, impact, scalability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4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SkillMap — AI-Adaptive Onboarding Engine</dc:title>
  <dc:subject>PptxGenJS Presentation</dc:subject>
  <dc:creator>PptxGenJS</dc:creator>
  <cp:lastModifiedBy>PptxGenJS</cp:lastModifiedBy>
  <cp:revision>1</cp:revision>
  <dcterms:created xsi:type="dcterms:W3CDTF">2026-03-20T05:36:02Z</dcterms:created>
  <dcterms:modified xsi:type="dcterms:W3CDTF">2026-03-20T05:36:02Z</dcterms:modified>
</cp:coreProperties>
</file>